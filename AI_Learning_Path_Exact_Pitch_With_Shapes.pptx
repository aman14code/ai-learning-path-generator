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LEARNING PATH GENERATOR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Personalized Learning Roadmaps Powered by AI</a:t>
            </a:r>
          </a:p>
          <a:p>
            <a:r>
              <a:t>Team: [Your Team Name]</a:t>
            </a:r>
          </a:p>
          <a:p>
            <a:r>
              <a:t>Hackathon: [Hackathon Name]</a:t>
            </a:r>
          </a:p>
          <a:p>
            <a:r>
              <a:t>Date: [Date]</a:t>
            </a:r>
          </a:p>
          <a:p>
            <a:r>
              <a:t>GitHub: github.com/aman14code/Ai-learning-path-generator</a:t>
            </a:r>
          </a:p>
          <a:p>
            <a:r>
              <a:t>Live Demo: ai-learning-path-generator-five.vercel.app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❌ Current Challenges in Learning:</a:t>
            </a:r>
          </a:p>
          <a:p>
            <a:pPr>
              <a:defRPr sz="1800"/>
            </a:pPr>
            <a:r>
              <a:t>• Learners waste 40-60 hours searching "how to learn X"</a:t>
            </a:r>
          </a:p>
          <a:p>
            <a:pPr>
              <a:defRPr sz="1800"/>
            </a:pPr>
            <a:r>
              <a:t>• Generic roadmaps don't match individual skill levels</a:t>
            </a:r>
          </a:p>
          <a:p>
            <a:pPr>
              <a:defRPr sz="1800"/>
            </a:pPr>
            <a:r>
              <a:t>• Too many resources, no personalized guidance</a:t>
            </a:r>
          </a:p>
          <a:p>
            <a:pPr>
              <a:defRPr sz="1800"/>
            </a:pPr>
            <a:r>
              <a:t>• One-size-fits-all approach doesn't work</a:t>
            </a:r>
          </a:p>
          <a:p>
            <a:pPr>
              <a:defRPr sz="1800"/>
            </a:pPr>
            <a:r>
              <a:t>• Beginners get overwhelmed, advanced learners get bored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💡 What if learning paths could be AI-generated based on YOUR current skills, time, and goals?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Learning Path Generator -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✓ Enter your topic + current skill level + available time</a:t>
            </a:r>
          </a:p>
          <a:p>
            <a:pPr>
              <a:defRPr sz="1800"/>
            </a:pPr>
            <a:r>
              <a:t>✓ AI analyzes and generates personalized learning roadmap</a:t>
            </a:r>
          </a:p>
          <a:p>
            <a:pPr>
              <a:defRPr sz="1800"/>
            </a:pPr>
            <a:r>
              <a:t>✓ Step-by-step structured path with:</a:t>
            </a:r>
          </a:p>
          <a:p>
            <a:pPr>
              <a:defRPr sz="1800"/>
            </a:pPr>
            <a:r>
              <a:t>- Curated resources (videos, articles, projects)</a:t>
            </a:r>
          </a:p>
          <a:p>
            <a:pPr>
              <a:defRPr sz="1800"/>
            </a:pPr>
            <a:r>
              <a:t>- Estimated time for each module</a:t>
            </a:r>
          </a:p>
          <a:p>
            <a:pPr>
              <a:defRPr sz="1800"/>
            </a:pPr>
            <a:r>
              <a:t>- Difficulty progression</a:t>
            </a:r>
          </a:p>
          <a:p>
            <a:pPr>
              <a:defRPr sz="1800"/>
            </a:pPr>
            <a:r>
              <a:t>- Hands-on project suggestions</a:t>
            </a:r>
          </a:p>
          <a:p>
            <a:pPr>
              <a:defRPr sz="1800"/>
            </a:pPr>
            <a:r>
              <a:t>✓ Adaptive paths that match YOUR pace</a:t>
            </a:r>
          </a:p>
          <a:p>
            <a:pPr>
              <a:defRPr sz="1800"/>
            </a:pPr>
            <a:r>
              <a:t>✓ Save, track, and resume your learning journey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371600"/>
            <a:ext cx="1828800" cy="457200"/>
          </a:xfrm>
          <a:prstGeom prst="roundRect">
            <a:avLst/>
          </a:prstGeom>
          <a:solidFill>
            <a:srgbClr val="10B981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  <a:br/>
            <a:r>
              <a:t>User Lands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2286000"/>
            <a:ext cx="1828800" cy="457200"/>
          </a:xfrm>
          <a:prstGeom prst="rect">
            <a:avLst/>
          </a:prstGeom>
          <a:solidFill>
            <a:srgbClr val="3B82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 Landing Page</a:t>
            </a:r>
          </a:p>
        </p:txBody>
      </p:sp>
      <p:sp>
        <p:nvSpPr>
          <p:cNvPr id="5" name="Diamond 4"/>
          <p:cNvSpPr/>
          <p:nvPr/>
        </p:nvSpPr>
        <p:spPr>
          <a:xfrm>
            <a:off x="3429000" y="3200400"/>
            <a:ext cx="2286000" cy="731520"/>
          </a:xfrm>
          <a:prstGeom prst="diamond">
            <a:avLst/>
          </a:prstGeom>
          <a:solidFill>
            <a:srgbClr val="FBBF24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F2937"/>
                </a:solidFill>
                <a:latin typeface="Arial"/>
              </a:defRPr>
            </a:pPr>
            <a:r>
              <a:t>Create Path?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389120"/>
            <a:ext cx="1828800" cy="731520"/>
          </a:xfrm>
          <a:prstGeom prst="rect">
            <a:avLst/>
          </a:prstGeom>
          <a:solidFill>
            <a:srgbClr val="3B82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Fill Input Form</a:t>
            </a:r>
            <a:br/>
            <a:r>
              <a:t>(Topic, Level, Time)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5577840"/>
            <a:ext cx="1828800" cy="457200"/>
          </a:xfrm>
          <a:prstGeom prst="rect">
            <a:avLst/>
          </a:prstGeom>
          <a:solidFill>
            <a:srgbClr val="3B82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Click Generate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182880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" y="274320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393192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512064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663440" y="4023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YES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nsolas"/>
              </a:defRPr>
            </a:pPr>
          </a:p>
          <a:p>
            <a:pPr>
              <a:defRPr sz="1400">
                <a:latin typeface="Consolas"/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defRPr sz="1400">
                <a:latin typeface="Consolas"/>
              </a:defRPr>
            </a:pPr>
            <a:r>
              <a:t>│ FRONTEND                                │</a:t>
            </a:r>
          </a:p>
          <a:p>
            <a:pPr>
              <a:defRPr sz="1400">
                <a:latin typeface="Consolas"/>
              </a:defRPr>
            </a:pPr>
            <a:r>
              <a:t>│ • Next.js 14 (React Framework)          │</a:t>
            </a:r>
          </a:p>
          <a:p>
            <a:pPr>
              <a:defRPr sz="1400">
                <a:latin typeface="Consolas"/>
              </a:defRPr>
            </a:pPr>
            <a:r>
              <a:t>│ • TypeScript                            │</a:t>
            </a:r>
          </a:p>
          <a:p>
            <a:pPr>
              <a:defRPr sz="1400">
                <a:latin typeface="Consolas"/>
              </a:defRPr>
            </a:pPr>
            <a:r>
              <a:t>│ • Tailwind CSS                          │</a:t>
            </a:r>
          </a:p>
          <a:p>
            <a:pPr>
              <a:defRPr sz="1400">
                <a:latin typeface="Consolas"/>
              </a:defRPr>
            </a:pPr>
            <a:r>
              <a:t>│ • Shadcn UI Components                  │</a:t>
            </a:r>
          </a:p>
          <a:p>
            <a:pPr>
              <a:defRPr sz="1400">
                <a:latin typeface="Consolas"/>
              </a:defRPr>
            </a:pPr>
            <a:r>
              <a:t>└─────────────────────────────────────────┘</a:t>
            </a:r>
          </a:p>
          <a:p>
            <a:pPr>
              <a:defRPr sz="1400">
                <a:latin typeface="Consolas"/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defRPr sz="1400">
                <a:latin typeface="Consolas"/>
              </a:defRPr>
            </a:pPr>
            <a:r>
              <a:t>│ BACKEND &amp; AI                            │</a:t>
            </a:r>
          </a:p>
          <a:p>
            <a:pPr>
              <a:defRPr sz="1400">
                <a:latin typeface="Consolas"/>
              </a:defRPr>
            </a:pPr>
            <a:r>
              <a:t>│ • Google Gemini AI API                  │</a:t>
            </a:r>
          </a:p>
          <a:p>
            <a:pPr>
              <a:defRPr sz="1400">
                <a:latin typeface="Consolas"/>
              </a:defRPr>
            </a:pPr>
            <a:r>
              <a:t>│ • Next.js API Routes                    │</a:t>
            </a:r>
          </a:p>
          <a:p>
            <a:pPr>
              <a:defRPr sz="1400">
                <a:latin typeface="Consolas"/>
              </a:defRPr>
            </a:pPr>
            <a:r>
              <a:t>│ • Server-Side Rendering                 │</a:t>
            </a:r>
          </a:p>
          <a:p>
            <a:pPr>
              <a:defRPr sz="1400">
                <a:latin typeface="Consolas"/>
              </a:defRPr>
            </a:pPr>
            <a:r>
              <a:t>└─────────────────────────────────────────┘</a:t>
            </a:r>
          </a:p>
          <a:p>
            <a:pPr>
              <a:defRPr sz="1400">
                <a:latin typeface="Consolas"/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defRPr sz="1400">
                <a:latin typeface="Consolas"/>
              </a:defRPr>
            </a:pPr>
            <a:r>
              <a:t>│ DATABASE &amp; STORAGE                      │</a:t>
            </a:r>
          </a:p>
          <a:p>
            <a:pPr>
              <a:defRPr sz="1400">
                <a:latin typeface="Consolas"/>
              </a:defRPr>
            </a:pPr>
            <a:r>
              <a:t>│ • [MongoDB/Firebase/Supabase?]          │</a:t>
            </a:r>
          </a:p>
          <a:p>
            <a:pPr>
              <a:defRPr sz="1400">
                <a:latin typeface="Consolas"/>
              </a:defRPr>
            </a:pPr>
            <a:r>
              <a:t>│ • Local Storage for quick saves         │</a:t>
            </a:r>
          </a:p>
          <a:p>
            <a:pPr>
              <a:defRPr sz="1400">
                <a:latin typeface="Consolas"/>
              </a:defRPr>
            </a:pPr>
            <a:r>
              <a:t>└─────────────────────────────────────────┘</a:t>
            </a:r>
          </a:p>
          <a:p>
            <a:pPr>
              <a:defRPr sz="1400">
                <a:latin typeface="Consolas"/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defRPr sz="1400">
                <a:latin typeface="Consolas"/>
              </a:defRPr>
            </a:pPr>
            <a:r>
              <a:t>│ DEPLOYMENT                              │</a:t>
            </a:r>
          </a:p>
          <a:p>
            <a:pPr>
              <a:defRPr sz="1400">
                <a:latin typeface="Consolas"/>
              </a:defRPr>
            </a:pPr>
            <a:r>
              <a:t>│ • Vercel (CI/CD)                        │</a:t>
            </a:r>
          </a:p>
          <a:p>
            <a:pPr>
              <a:defRPr sz="1400">
                <a:latin typeface="Consolas"/>
              </a:defRPr>
            </a:pPr>
            <a:r>
              <a:t>│ • Git Version Control                   │</a:t>
            </a:r>
          </a:p>
          <a:p>
            <a:pPr>
              <a:defRPr sz="1400">
                <a:latin typeface="Consolas"/>
              </a:defRPr>
            </a:pPr>
            <a:r>
              <a:t>└─────────────────────────────────────────┘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solidFill>
            <a:srgbClr val="DBEAFE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1F2937"/>
                </a:solidFill>
              </a:defRPr>
            </a:pPr>
            <a:r>
              <a:t>FRONTEND LAYER (Next.js)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1828800" cy="731520"/>
          </a:xfrm>
          <a:prstGeom prst="rect">
            <a:avLst/>
          </a:prstGeom>
          <a:solidFill>
            <a:srgbClr val="3B82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Landing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828800"/>
            <a:ext cx="1828800" cy="731520"/>
          </a:xfrm>
          <a:prstGeom prst="rect">
            <a:avLst/>
          </a:prstGeom>
          <a:solidFill>
            <a:srgbClr val="3B82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Generator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828800"/>
            <a:ext cx="1828800" cy="731520"/>
          </a:xfrm>
          <a:prstGeom prst="rect">
            <a:avLst/>
          </a:prstGeom>
          <a:solidFill>
            <a:srgbClr val="3B82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solidFill>
            <a:srgbClr val="E9D5FF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1F2937"/>
                </a:solidFill>
              </a:defRPr>
            </a:pPr>
            <a:r>
              <a:t>BACKEND LAYER (API Routes)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657600"/>
            <a:ext cx="1828800" cy="731520"/>
          </a:xfrm>
          <a:prstGeom prst="rect">
            <a:avLst/>
          </a:prstGeom>
          <a:solidFill>
            <a:srgbClr val="8B5C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/api/generate-path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3657600"/>
            <a:ext cx="1828800" cy="731520"/>
          </a:xfrm>
          <a:prstGeom prst="rect">
            <a:avLst/>
          </a:prstGeom>
          <a:solidFill>
            <a:srgbClr val="8B5C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/api/save-path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3657600"/>
            <a:ext cx="1828800" cy="731520"/>
          </a:xfrm>
          <a:prstGeom prst="rect">
            <a:avLst/>
          </a:prstGeom>
          <a:solidFill>
            <a:srgbClr val="8B5CF6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/api/get-paths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86000" y="2560320"/>
            <a:ext cx="0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2560320"/>
            <a:ext cx="0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0" y="2560320"/>
            <a:ext cx="0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solidFill>
            <a:srgbClr val="D1FAE5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1F2937"/>
                </a:solidFill>
              </a:defRPr>
            </a:pPr>
            <a:r>
              <a:t>EXTERNAL SERVICES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486400"/>
            <a:ext cx="1828800" cy="731520"/>
          </a:xfrm>
          <a:prstGeom prst="rect">
            <a:avLst/>
          </a:prstGeom>
          <a:solidFill>
            <a:srgbClr val="10B981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Google Gemini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5486400"/>
            <a:ext cx="1828800" cy="731520"/>
          </a:xfrm>
          <a:prstGeom prst="rect">
            <a:avLst/>
          </a:prstGeom>
          <a:solidFill>
            <a:srgbClr val="10B981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Database (MongoDB)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5486400"/>
            <a:ext cx="1828800" cy="731520"/>
          </a:xfrm>
          <a:prstGeom prst="rect">
            <a:avLst/>
          </a:prstGeom>
          <a:solidFill>
            <a:srgbClr val="10B981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Vercel Storage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86000" y="4389120"/>
            <a:ext cx="0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72000" y="4389120"/>
            <a:ext cx="0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4389120"/>
            <a:ext cx="0" cy="1097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nsolas"/>
              </a:defRPr>
            </a:pPr>
          </a:p>
          <a:p>
            <a:pPr>
              <a:defRPr sz="1400">
                <a:latin typeface="Consolas"/>
              </a:defRPr>
            </a:pPr>
            <a:r>
              <a:t>┌────────────────────┬────────────────────┐</a:t>
            </a:r>
          </a:p>
          <a:p>
            <a:pPr>
              <a:defRPr sz="1400">
                <a:latin typeface="Consolas"/>
              </a:defRPr>
            </a:pPr>
            <a:r>
              <a:t>│ 1. Smart Input     │ 2. AI Generation   │</a:t>
            </a:r>
          </a:p>
          <a:p>
            <a:pPr>
              <a:defRPr sz="1400">
                <a:latin typeface="Consolas"/>
              </a:defRPr>
            </a:pPr>
            <a:r>
              <a:t>│ [SCREENSHOT]       │ [SCREENSHOT]       │</a:t>
            </a:r>
          </a:p>
          <a:p>
            <a:pPr>
              <a:defRPr sz="1400">
                <a:latin typeface="Consolas"/>
              </a:defRPr>
            </a:pPr>
            <a:r>
              <a:t>│ Custom skill       │ Real-time path     │</a:t>
            </a:r>
          </a:p>
          <a:p>
            <a:pPr>
              <a:defRPr sz="1400">
                <a:latin typeface="Consolas"/>
              </a:defRPr>
            </a:pPr>
            <a:r>
              <a:t>│ level selection    │ creation           │</a:t>
            </a:r>
          </a:p>
          <a:p>
            <a:pPr>
              <a:defRPr sz="1400">
                <a:latin typeface="Consolas"/>
              </a:defRPr>
            </a:pPr>
            <a:r>
              <a:t>└────────────────────┴────────────────────┘</a:t>
            </a:r>
          </a:p>
          <a:p>
            <a:pPr>
              <a:defRPr sz="1400">
                <a:latin typeface="Consolas"/>
              </a:defRPr>
            </a:pPr>
            <a:r>
              <a:t>┌────────────────────┬────────────────────┐</a:t>
            </a:r>
          </a:p>
          <a:p>
            <a:pPr>
              <a:defRPr sz="1400">
                <a:latin typeface="Consolas"/>
              </a:defRPr>
            </a:pPr>
            <a:r>
              <a:t>│ 3. Detailed Path   │ 4. Save &amp; Track    │</a:t>
            </a:r>
          </a:p>
          <a:p>
            <a:pPr>
              <a:defRPr sz="1400">
                <a:latin typeface="Consolas"/>
              </a:defRPr>
            </a:pPr>
            <a:r>
              <a:t>│ [SCREENSHOT]       │ [SCREENSHOT]       │</a:t>
            </a:r>
          </a:p>
          <a:p>
            <a:pPr>
              <a:defRPr sz="1400">
                <a:latin typeface="Consolas"/>
              </a:defRPr>
            </a:pPr>
            <a:r>
              <a:t>│ Module breakdown   │ Progress tracking  │</a:t>
            </a:r>
          </a:p>
          <a:p>
            <a:pPr>
              <a:defRPr sz="1400">
                <a:latin typeface="Consolas"/>
              </a:defRPr>
            </a:pPr>
            <a:r>
              <a:t>│ with resources     │ dashboard          │</a:t>
            </a:r>
          </a:p>
          <a:p>
            <a:pPr>
              <a:defRPr sz="1400">
                <a:latin typeface="Consolas"/>
              </a:defRPr>
            </a:pPr>
            <a:r>
              <a:t>└────────────────────┴────────────────────┘</a:t>
            </a:r>
          </a:p>
          <a:p>
            <a:pPr>
              <a:defRPr sz="1400">
                <a:latin typeface="Consolas"/>
              </a:defRPr>
            </a:pPr>
          </a:p>
          <a:p>
            <a:pPr>
              <a:defRPr sz="1400">
                <a:latin typeface="Consolas"/>
              </a:defRPr>
            </a:pPr>
            <a:r>
              <a:t>[Use ACTUAL screenshots from https://ai-learning-path-generator-five.vercel.app/]</a:t>
            </a:r>
          </a:p>
          <a:p>
            <a:pPr>
              <a:defRPr sz="1400">
                <a:latin typeface="Consolas"/>
              </a:defRPr>
            </a:pPr>
            <a:r>
              <a:t>[Add simple red arrows pointing to key features]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[SCREENSHOT: Homepage with input form]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[Add 2-3 small annotations with arrows:]</a:t>
            </a:r>
          </a:p>
          <a:p>
            <a:pPr>
              <a:defRPr sz="1800"/>
            </a:pPr>
            <a:r>
              <a:t>→ "User enters topic here"</a:t>
            </a:r>
          </a:p>
          <a:p>
            <a:pPr>
              <a:defRPr sz="1800"/>
            </a:pPr>
            <a:r>
              <a:t>→ "AI generates in &lt;5 seconds"</a:t>
            </a:r>
          </a:p>
          <a:p>
            <a:pPr>
              <a:defRPr sz="1800"/>
            </a:pPr>
            <a:r>
              <a:t>→ "Personalized based on skill level"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[CRITICAL: Take screenshot from your actual deployed site]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Generated Learning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[SCREENSHOT: Show actual AI-generated learning path]</a:t>
            </a:r>
          </a:p>
          <a:p>
            <a:pPr>
              <a:defRPr sz="1800"/>
            </a:pPr>
            <a:r>
              <a:t>Example: "Learn React.js - Intermediate Level - 30 days"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Week 1: Advanced Hooks</a:t>
            </a:r>
          </a:p>
          <a:p>
            <a:pPr>
              <a:defRPr sz="1800"/>
            </a:pPr>
            <a:r>
              <a:t>├─ Video: Custom Hooks Deep Dive (3 hrs)</a:t>
            </a:r>
          </a:p>
          <a:p>
            <a:pPr>
              <a:defRPr sz="1800"/>
            </a:pPr>
            <a:r>
              <a:t>├─ Article: useCallback vs useMemo</a:t>
            </a:r>
          </a:p>
          <a:p>
            <a:pPr>
              <a:defRPr sz="1800"/>
            </a:pPr>
            <a:r>
              <a:t>└─ Project: Build custom hook library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Week 2: State Management</a:t>
            </a:r>
          </a:p>
          <a:p>
            <a:pPr>
              <a:defRPr sz="1800"/>
            </a:pPr>
            <a:r>
              <a:t>├─ Video: Redux Toolkit Tutorial (4 hrs)</a:t>
            </a:r>
          </a:p>
          <a:p>
            <a:pPr>
              <a:defRPr sz="1800"/>
            </a:pPr>
            <a:r>
              <a:t>├─ Practice: Zustand implementation</a:t>
            </a:r>
          </a:p>
          <a:p>
            <a:pPr>
              <a:defRPr sz="1800"/>
            </a:pPr>
            <a:r>
              <a:t>└─ Project: E-commerce cart with Redux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[Use real output from your app - take screenshot]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Implementation (Code 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[Screenshot from your actual GitHub code]</a:t>
            </a:r>
          </a:p>
          <a:p>
            <a:pPr>
              <a:defRPr sz="1800"/>
            </a:pPr>
            <a:r>
              <a:t>[Show the Gemini API integration code]</a:t>
            </a:r>
          </a:p>
          <a:p>
            <a:pPr>
              <a:defRPr sz="1800"/>
            </a:pPr>
            <a:r>
              <a:t>File: /api/generate-path/route.ts (or similar)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[Paste actual code screenshot showing:]</a:t>
            </a:r>
          </a:p>
          <a:p>
            <a:pPr>
              <a:defRPr sz="1800"/>
            </a:pPr>
            <a:r>
              <a:t>- Gemini API call</a:t>
            </a:r>
          </a:p>
          <a:p>
            <a:pPr>
              <a:defRPr sz="1800"/>
            </a:pPr>
            <a:r>
              <a:t>- Prompt engineering</a:t>
            </a:r>
          </a:p>
          <a:p>
            <a:pPr>
              <a:defRPr sz="1800"/>
            </a:pPr>
            <a:r>
              <a:t>- Response parsing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[Add simple text box:]</a:t>
            </a:r>
          </a:p>
          <a:p>
            <a:pPr>
              <a:defRPr sz="1800"/>
            </a:pPr>
            <a:r>
              <a:t>"AI prompt engineered to generate structured, personalized learning paths based on user input"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[Go to your GitHub, take screenshot of actual code]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Data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User Input</a:t>
            </a:r>
          </a:p>
          <a:p>
            <a:pPr>
              <a:defRPr sz="1800"/>
            </a:pPr>
            <a:r>
              <a:t>↓</a:t>
            </a:r>
          </a:p>
          <a:p>
            <a:pPr>
              <a:defRPr sz="1800"/>
            </a:pPr>
            <a:r>
              <a:t>[Topic: "Machine Learning"]</a:t>
            </a:r>
          </a:p>
          <a:p>
            <a:pPr>
              <a:defRPr sz="1800"/>
            </a:pPr>
            <a:r>
              <a:t>[Level: "Beginner"]</a:t>
            </a:r>
          </a:p>
          <a:p>
            <a:pPr>
              <a:defRPr sz="1800"/>
            </a:pPr>
            <a:r>
              <a:t>[Time: "3 months"]</a:t>
            </a:r>
          </a:p>
          <a:p>
            <a:pPr>
              <a:defRPr sz="1800"/>
            </a:pPr>
            <a:r>
              <a:t>↓</a:t>
            </a:r>
          </a:p>
          <a:p>
            <a:pPr>
              <a:defRPr sz="1800"/>
            </a:pPr>
            <a:r>
              <a:t>API Request to /api/generate-path</a:t>
            </a:r>
          </a:p>
          <a:p>
            <a:pPr>
              <a:defRPr sz="1800"/>
            </a:pPr>
            <a:r>
              <a:t>↓</a:t>
            </a:r>
          </a:p>
          <a:p>
            <a:pPr>
              <a:defRPr sz="1800"/>
            </a:pPr>
            <a:r>
              <a:t>Gemini AI Processing</a:t>
            </a:r>
          </a:p>
          <a:p>
            <a:pPr>
              <a:defRPr sz="1800"/>
            </a:pPr>
            <a:r>
              <a:t>↓</a:t>
            </a:r>
          </a:p>
          <a:p>
            <a:pPr>
              <a:defRPr sz="1800"/>
            </a:pPr>
            <a:r>
              <a:t>Structured JSON Response</a:t>
            </a:r>
          </a:p>
          <a:p>
            <a:pPr>
              <a:defRPr sz="1800"/>
            </a:pPr>
            <a:r>
              <a:t>{ modules: [...], resources: [...], timeline: [...] }</a:t>
            </a:r>
          </a:p>
          <a:p>
            <a:pPr>
              <a:defRPr sz="1800"/>
            </a:pPr>
            <a:r>
              <a:t>↓</a:t>
            </a:r>
          </a:p>
          <a:p>
            <a:pPr>
              <a:defRPr sz="1800"/>
            </a:pPr>
            <a:r>
              <a:t>Frontend Rendering</a:t>
            </a:r>
          </a:p>
          <a:p>
            <a:pPr>
              <a:defRPr sz="1800"/>
            </a:pPr>
            <a:r>
              <a:t>↓</a:t>
            </a:r>
          </a:p>
          <a:p>
            <a:pPr>
              <a:defRPr sz="1800"/>
            </a:pPr>
            <a:r>
              <a:t>Display Learning Path</a:t>
            </a:r>
          </a:p>
          <a:p>
            <a:pPr>
              <a:defRPr sz="1800"/>
            </a:pPr>
            <a:r>
              <a:t>↓</a:t>
            </a:r>
          </a:p>
          <a:p>
            <a:pPr>
              <a:defRPr sz="1800"/>
            </a:pPr>
            <a:r>
              <a:t>Save to Database (optional)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Us Different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🎯 Personalization</a:t>
            </a:r>
          </a:p>
          <a:p>
            <a:pPr>
              <a:defRPr sz="1800"/>
            </a:pPr>
            <a:r>
              <a:t>• Not generic roadmaps - AI adapts to YOUR level</a:t>
            </a:r>
          </a:p>
          <a:p>
            <a:pPr>
              <a:defRPr sz="1800"/>
            </a:pPr>
            <a:r>
              <a:t>• Considers your available time constraints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🤖 Smart AI Integration</a:t>
            </a:r>
          </a:p>
          <a:p>
            <a:pPr>
              <a:defRPr sz="1800"/>
            </a:pPr>
            <a:r>
              <a:t>• Context-aware prompt engineering</a:t>
            </a:r>
          </a:p>
          <a:p>
            <a:pPr>
              <a:defRPr sz="1800"/>
            </a:pPr>
            <a:r>
              <a:t>• Structured output parsing</a:t>
            </a:r>
          </a:p>
          <a:p>
            <a:pPr>
              <a:defRPr sz="1800"/>
            </a:pPr>
            <a:r>
              <a:t>• Quality resource curation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⚡ User Experience</a:t>
            </a:r>
          </a:p>
          <a:p>
            <a:pPr>
              <a:defRPr sz="1800"/>
            </a:pPr>
            <a:r>
              <a:t>• &lt;5 second generation time</a:t>
            </a:r>
          </a:p>
          <a:p>
            <a:pPr>
              <a:defRPr sz="1800"/>
            </a:pPr>
            <a:r>
              <a:t>• Clean, intuitive interface</a:t>
            </a:r>
          </a:p>
          <a:p>
            <a:pPr>
              <a:defRPr sz="1800"/>
            </a:pPr>
            <a:r>
              <a:t>• Mobile responsive design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💾 Practical Features</a:t>
            </a:r>
          </a:p>
          <a:p>
            <a:pPr>
              <a:defRPr sz="1800"/>
            </a:pPr>
            <a:r>
              <a:t>• Save multiple learning paths</a:t>
            </a:r>
          </a:p>
          <a:p>
            <a:pPr>
              <a:defRPr sz="1800"/>
            </a:pPr>
            <a:r>
              <a:t>• Track progress across modules</a:t>
            </a:r>
          </a:p>
          <a:p>
            <a:pPr>
              <a:defRPr sz="1800"/>
            </a:pPr>
            <a:r>
              <a:t>• Export/share functionality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We Solved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</a:p>
          <a:p>
            <a:pPr>
              <a:defRPr sz="1600"/>
            </a:pPr>
            <a:r>
              <a:t>CHALLENGE → SOLUTION</a:t>
            </a:r>
          </a:p>
          <a:p>
            <a:pPr>
              <a:defRPr sz="1600"/>
            </a:pPr>
            <a:r>
              <a:t>─────────────────────────────────────────────</a:t>
            </a:r>
          </a:p>
          <a:p>
            <a:pPr>
              <a:defRPr sz="1600"/>
            </a:pPr>
            <a:r>
              <a:t>AI generating inconsistent → Strict prompt engineering formats with JSON schema validation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Slow API response times → Implemented streaming responses + loading states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Managing complex state → React Context + custom hooks architecture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Responsive design for → Tailwind + mobile-first complex data display approach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Cost optimization for → Rate limiting + caching API calls frequent requests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🎓 Students</a:t>
            </a:r>
          </a:p>
          <a:p>
            <a:pPr>
              <a:defRPr sz="1800"/>
            </a:pPr>
            <a:r>
              <a:t>• Clear roadmap for learning new technologies</a:t>
            </a:r>
          </a:p>
          <a:p>
            <a:pPr>
              <a:defRPr sz="1800"/>
            </a:pPr>
            <a:r>
              <a:t>• Avoid tutorial hell with structured approach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👨💼 Professionals</a:t>
            </a:r>
          </a:p>
          <a:p>
            <a:pPr>
              <a:defRPr sz="1800"/>
            </a:pPr>
            <a:r>
              <a:t>• Quick upskilling paths for career transitions</a:t>
            </a:r>
          </a:p>
          <a:p>
            <a:pPr>
              <a:defRPr sz="1800"/>
            </a:pPr>
            <a:r>
              <a:t>• Time-efficient learning for busy schedules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🏫 Educators</a:t>
            </a:r>
          </a:p>
          <a:p>
            <a:pPr>
              <a:defRPr sz="1800"/>
            </a:pPr>
            <a:r>
              <a:t>• Generate curriculum structures</a:t>
            </a:r>
          </a:p>
          <a:p>
            <a:pPr>
              <a:defRPr sz="1800"/>
            </a:pPr>
            <a:r>
              <a:t>• Personalized student guidance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📊 Potential Metrics (if you have data):</a:t>
            </a:r>
          </a:p>
          <a:p>
            <a:pPr>
              <a:defRPr sz="1800"/>
            </a:pPr>
            <a:r>
              <a:t>• X paths generated</a:t>
            </a:r>
          </a:p>
          <a:p>
            <a:pPr>
              <a:defRPr sz="1800"/>
            </a:pPr>
            <a:r>
              <a:t>• Y average time saved per user</a:t>
            </a:r>
          </a:p>
          <a:p>
            <a:pPr>
              <a:defRPr sz="1800"/>
            </a:pPr>
            <a:r>
              <a:t>• Z% user satisfaction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</a:p>
          <a:p>
            <a:pPr>
              <a:defRPr sz="1400"/>
            </a:pPr>
            <a:r>
              <a:t>🔄 Progress Tracking</a:t>
            </a:r>
          </a:p>
          <a:p>
            <a:pPr>
              <a:defRPr sz="1400"/>
            </a:pPr>
            <a:r>
              <a:t>• Mark completed modules</a:t>
            </a:r>
          </a:p>
          <a:p>
            <a:pPr>
              <a:defRPr sz="1400"/>
            </a:pPr>
            <a:r>
              <a:t>• Visual progress bars</a:t>
            </a:r>
          </a:p>
          <a:p>
            <a:pPr>
              <a:defRPr sz="1400"/>
            </a:pPr>
            <a:r>
              <a:t>• Achievement system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👥 Community Features</a:t>
            </a:r>
          </a:p>
          <a:p>
            <a:pPr>
              <a:defRPr sz="1400"/>
            </a:pPr>
            <a:r>
              <a:t>• Share learning paths</a:t>
            </a:r>
          </a:p>
          <a:p>
            <a:pPr>
              <a:defRPr sz="1400"/>
            </a:pPr>
            <a:r>
              <a:t>• User ratings on resources</a:t>
            </a:r>
          </a:p>
          <a:p>
            <a:pPr>
              <a:defRPr sz="1400"/>
            </a:pPr>
            <a:r>
              <a:t>• Community recommendations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🎯 Advanced AI</a:t>
            </a:r>
          </a:p>
          <a:p>
            <a:pPr>
              <a:defRPr sz="1400"/>
            </a:pPr>
            <a:r>
              <a:t>• Learning style adaptation</a:t>
            </a:r>
          </a:p>
          <a:p>
            <a:pPr>
              <a:defRPr sz="1400"/>
            </a:pPr>
            <a:r>
              <a:t>• Resource quality scoring</a:t>
            </a:r>
          </a:p>
          <a:p>
            <a:pPr>
              <a:defRPr sz="1400"/>
            </a:pPr>
            <a:r>
              <a:t>• Prerequisite detection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📱 Mobile App</a:t>
            </a:r>
          </a:p>
          <a:p>
            <a:pPr>
              <a:defRPr sz="1400"/>
            </a:pPr>
            <a:r>
              <a:t>• Native iOS/Android apps</a:t>
            </a:r>
          </a:p>
          <a:p>
            <a:pPr>
              <a:defRPr sz="1400"/>
            </a:pPr>
            <a:r>
              <a:t>• Offline path access</a:t>
            </a:r>
          </a:p>
          <a:p>
            <a:pPr>
              <a:defRPr sz="1400"/>
            </a:pPr>
            <a:r>
              <a:t>• Push notifications for milestones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🔗 Integrations</a:t>
            </a:r>
          </a:p>
          <a:p>
            <a:pPr>
              <a:defRPr sz="1400"/>
            </a:pPr>
            <a:r>
              <a:t>• YouTube, Coursera, Udemy APIs</a:t>
            </a:r>
          </a:p>
          <a:p>
            <a:pPr>
              <a:defRPr sz="1400"/>
            </a:pPr>
            <a:r>
              <a:t>• Calendar integration</a:t>
            </a:r>
          </a:p>
          <a:p>
            <a:pPr>
              <a:defRPr sz="1400"/>
            </a:pPr>
            <a:r>
              <a:t>• Note-taking features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600"/>
            </a:pPr>
          </a:p>
          <a:p>
            <a:pPr>
              <a:defRPr sz="1800"/>
            </a:pPr>
            <a:r>
              <a:t>🎥 LIVE DEMONSTRATION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Let's see it in action!</a:t>
            </a:r>
          </a:p>
          <a:p>
            <a:pPr>
              <a:defRPr sz="1800"/>
            </a:pPr>
            <a:r>
              <a:t>→ ai-learning-path-generator-five.vercel.app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[Keep this slide minimal - you'll do live demo here]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&amp; Technical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</a:p>
          <a:p>
            <a:pPr>
              <a:defRPr sz="1600"/>
            </a:pPr>
            <a:r>
              <a:t>📦 GitHub Repository</a:t>
            </a:r>
          </a:p>
          <a:p>
            <a:pPr>
              <a:defRPr sz="1600"/>
            </a:pPr>
            <a:r>
              <a:t>github.com/aman14code/Ai-learning-path-generator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[Optional: Add screenshot of GitHub repo showing:]</a:t>
            </a:r>
          </a:p>
          <a:p>
            <a:pPr>
              <a:defRPr sz="1600"/>
            </a:pPr>
            <a:r>
              <a:t>- Stars/Forks count</a:t>
            </a:r>
          </a:p>
          <a:p>
            <a:pPr>
              <a:defRPr sz="1600"/>
            </a:pPr>
            <a:r>
              <a:t>- Commit history</a:t>
            </a:r>
          </a:p>
          <a:p>
            <a:pPr>
              <a:defRPr sz="1600"/>
            </a:pPr>
            <a:r>
              <a:t>- README preview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🔧 Project Stats:</a:t>
            </a:r>
          </a:p>
          <a:p>
            <a:pPr>
              <a:defRPr sz="1600"/>
            </a:pPr>
            <a:r>
              <a:t>• Lines of Code: [check with cloc or GitHub stats]</a:t>
            </a:r>
          </a:p>
          <a:p>
            <a:pPr>
              <a:defRPr sz="1600"/>
            </a:pPr>
            <a:r>
              <a:t>• Components: [count your React components]</a:t>
            </a:r>
          </a:p>
          <a:p>
            <a:pPr>
              <a:defRPr sz="1600"/>
            </a:pPr>
            <a:r>
              <a:t>• API Endpoints: [list them]</a:t>
            </a:r>
          </a:p>
          <a:p>
            <a:pPr>
              <a:defRPr sz="1600"/>
            </a:pPr>
            <a:r>
              <a:t>• Development Time: [how long you built it]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📄 Well-documented codebase with:</a:t>
            </a:r>
          </a:p>
          <a:p>
            <a:pPr>
              <a:defRPr sz="1600"/>
            </a:pPr>
            <a:r>
              <a:t>• Clean component structure</a:t>
            </a:r>
          </a:p>
          <a:p>
            <a:pPr>
              <a:defRPr sz="1600"/>
            </a:pPr>
            <a:r>
              <a:t>• TypeScript for type safety</a:t>
            </a:r>
          </a:p>
          <a:p>
            <a:pPr>
              <a:defRPr sz="1600"/>
            </a:pPr>
            <a:r>
              <a:t>• Reusable custom hooks</a:t>
            </a:r>
          </a:p>
          <a:p>
            <a:pPr>
              <a:defRPr sz="1600"/>
            </a:pPr>
            <a:r>
              <a:t>• Comprehensive README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</a:p>
          <a:p>
            <a:pPr>
              <a:defRPr sz="1800"/>
            </a:pPr>
            <a:r>
              <a:t>AI LEARNING PATH GENERATOR</a:t>
            </a:r>
          </a:p>
          <a:p>
            <a:pPr>
              <a:defRPr sz="1800"/>
            </a:pPr>
            <a:r>
              <a:t>Making Personalized Learning Accessible to Everyone</a:t>
            </a:r>
          </a:p>
          <a:p>
            <a:pPr>
              <a:defRPr sz="1800"/>
            </a:pPr>
            <a:r>
              <a:t>────────────────────────────────────</a:t>
            </a:r>
          </a:p>
          <a:p>
            <a:pPr>
              <a:defRPr sz="1800"/>
            </a:pPr>
            <a:r>
              <a:t>🔗 Live App: ai-learning-path-generator-five.vercel.app</a:t>
            </a:r>
          </a:p>
          <a:p>
            <a:pPr>
              <a:defRPr sz="1800"/>
            </a:pPr>
            <a:r>
              <a:t>💻 GitHub: github.com/aman14code/Ai-learning-path-generator</a:t>
            </a:r>
          </a:p>
          <a:p>
            <a:pPr>
              <a:defRPr sz="1800"/>
            </a:pPr>
            <a:r>
              <a:t>────────────────────────────────────</a:t>
            </a:r>
          </a:p>
          <a:p>
            <a:pPr>
              <a:defRPr sz="1800"/>
            </a:pPr>
            <a:r>
              <a:t>Team Members:</a:t>
            </a:r>
          </a:p>
          <a:p>
            <a:pPr>
              <a:defRPr sz="1800"/>
            </a:pPr>
            <a:r>
              <a:t>• [Name 1] - [Role]</a:t>
            </a:r>
          </a:p>
          <a:p>
            <a:pPr>
              <a:defRPr sz="1800"/>
            </a:pPr>
            <a:r>
              <a:t>• [Name 2] - [Role]</a:t>
            </a:r>
          </a:p>
          <a:p>
            <a:pPr>
              <a:defRPr sz="1800"/>
            </a:pPr>
            <a:r>
              <a:t>• [Name 3] - [Role]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📧 Contact: [your-email]</a:t>
            </a:r>
          </a:p>
          <a:p>
            <a:pPr>
              <a:defRPr sz="18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