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PathFinder &amp; Ultimate ML Recommender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An AI-Powered Personalized Learning Ecosystem</a:t>
            </a:r>
          </a:p>
          <a:p>
            <a:pPr>
              <a:defRPr sz="2000"/>
            </a:pPr>
            <a:r>
              <a:t>HCL Simplified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Problem: The Paradox of Choice in learning &amp; messy unstructured review data.</a:t>
            </a:r>
          </a:p>
          <a:p>
            <a:pPr>
              <a:defRPr sz="2000"/>
            </a:pPr>
            <a:r>
              <a:t>• Solution: A full-stack (React/FastAPI) adaptive learning platform.</a:t>
            </a:r>
          </a:p>
          <a:p>
            <a:pPr>
              <a:defRPr sz="2000"/>
            </a:pPr>
            <a:r>
              <a:t>• AI Engine: A custom hybrid NLP Model (Regex + TF-IDF Ensemble) trained on 110K reviews.</a:t>
            </a:r>
          </a:p>
          <a:p>
            <a:pPr>
              <a:defRPr sz="2000"/>
            </a:pPr>
            <a:r>
              <a:t>• Innovation: Real-time Canvas-based Knowledge Graphs &amp; DAG Topological Sorting.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Frontend (React/Vite): Captures user goals &amp; renders Canvas UI.</a:t>
            </a:r>
          </a:p>
          <a:p>
            <a:pPr>
              <a:defRPr sz="2000"/>
            </a:pPr>
            <a:r>
              <a:t>2. Backend API (FastAPI): Manages data exchange and triggers ML pipeline.</a:t>
            </a:r>
          </a:p>
          <a:p>
            <a:pPr>
              <a:defRPr sz="2000"/>
            </a:pPr>
            <a:r>
              <a:t>3. ML Pipeline (scikit-learn): Vectorizes inputs &amp; computes Cosine Similarity.</a:t>
            </a:r>
          </a:p>
          <a:p>
            <a:pPr>
              <a:defRPr sz="2000"/>
            </a:pPr>
            <a:r>
              <a:t>4. Database Layer (SQLite): Persists user state and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ARCHITECTURE DIAGRAM HERE]</a:t>
            </a:r>
          </a:p>
          <a:p>
            <a:pPr>
              <a:defRPr sz="2000"/>
            </a:pPr>
            <a:r>
              <a:t>• You can use the Mermaid diagram from your README.</a:t>
            </a:r>
          </a:p>
          <a:p>
            <a:pPr>
              <a:defRPr sz="2000"/>
            </a:pPr>
            <a:r>
              <a:t>• Keep it visual to show how React -&gt; FastAPI -&gt; ML Engine flow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UI/UX: Conversational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Traditional forms are boring. We use conversational onboarding.</a:t>
            </a:r>
          </a:p>
          <a:p>
            <a:pPr>
              <a:defRPr sz="2000"/>
            </a:pPr>
            <a:r>
              <a:t>• Captures 'Target Role' and 'Current Skill Level'.</a:t>
            </a:r>
          </a:p>
          <a:p>
            <a:pPr>
              <a:defRPr sz="2000"/>
            </a:pPr>
            <a:r>
              <a:t>• Dynamic form fields based on previous answers.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Screenshot: Onboarding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ONBOARDING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Theory: The Two-Pronged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Our goal: Map unstructured user profiles/reviews to 80 unique courses.</a:t>
            </a:r>
          </a:p>
          <a:p>
            <a:pPr>
              <a:defRPr sz="2000"/>
            </a:pPr>
            <a:r>
              <a:t>• Prong 1 (Direct Match): Optimized regex heuristic for explicit mentions (near 100% precision).</a:t>
            </a:r>
          </a:p>
          <a:p>
            <a:pPr>
              <a:defRPr sz="2000"/>
            </a:pPr>
            <a:r>
              <a:t>• Prong 2 (ML Ensemble): For implicit, noisy data, falls back to an AI classifier.</a:t>
            </a:r>
          </a:p>
          <a:p>
            <a:pPr>
              <a:defRPr sz="2000"/>
            </a:pPr>
            <a:r>
              <a:t>• Benefit: Bypasses expensive ML inference when deterministic data is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Theory: Why TF-IDF?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Term Frequency-Inverse Document Frequency (TF-IDF).</a:t>
            </a:r>
          </a:p>
          <a:p>
            <a:pPr>
              <a:defRPr sz="2000"/>
            </a:pPr>
            <a:r>
              <a:t>• Word TF-IDF (1 to 3 n-grams): Captures the semantic meaning of the text.</a:t>
            </a:r>
          </a:p>
          <a:p>
            <a:pPr>
              <a:defRPr sz="2000"/>
            </a:pPr>
            <a:r>
              <a:t>• Character TF-IDF (3 to 6 n-grams): Defends against real-world typos and spelling variations.</a:t>
            </a:r>
          </a:p>
          <a:p>
            <a:pPr>
              <a:defRPr sz="2000"/>
            </a:pPr>
            <a:r>
              <a:t>• Why not LLMs?: TF-IDF is lightning-fast (&lt;50ms inference), avoids hallucinations, and is mathematically interpretable.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Theory: 3-Model 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Model A: Logistic Regression on Word TF-IDF.</a:t>
            </a:r>
          </a:p>
          <a:p>
            <a:pPr>
              <a:defRPr sz="2000"/>
            </a:pPr>
            <a:r>
              <a:t>• Model B: Logistic Regression on Character TF-IDF.</a:t>
            </a:r>
          </a:p>
          <a:p>
            <a:pPr>
              <a:defRPr sz="2000"/>
            </a:pPr>
            <a:r>
              <a:t>• Model C: Calibrated LinearSVC on Combined Word+Char features.</a:t>
            </a:r>
          </a:p>
          <a:p>
            <a:pPr>
              <a:defRPr sz="2000"/>
            </a:pPr>
            <a:r>
              <a:t>• Weighted Averaging (3.0*A + 2.5*B + 2.0*C) eliminates individual model bias.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Theory: Generating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Once the category is predicted, how do we find the exact courses?</a:t>
            </a:r>
          </a:p>
          <a:p>
            <a:pPr>
              <a:defRPr sz="2000"/>
            </a:pPr>
            <a:r>
              <a:t>• We isolate historical data and compute Cosine Similarity.</a:t>
            </a:r>
          </a:p>
          <a:p>
            <a:pPr>
              <a:defRPr sz="2000"/>
            </a:pPr>
            <a:r>
              <a:t>• Cosine Similarity measures the cosine of the angle between two multi-dimensional vectors.</a:t>
            </a:r>
          </a:p>
          <a:p>
            <a:pPr>
              <a:defRPr sz="2000"/>
            </a:pPr>
            <a:r>
              <a:t>• This allows us to instantly return the top 10 mathematically closest courses to the user's profile.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ML-Powered Skill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Automatically calculates proficiency across 12 tech domains.</a:t>
            </a:r>
          </a:p>
          <a:p>
            <a:pPr>
              <a:defRPr sz="2000"/>
            </a:pPr>
            <a:r>
              <a:t>• Compares current skills against target role requirements (e.g., Data Scientist).</a:t>
            </a:r>
          </a:p>
          <a:p>
            <a:pPr>
              <a:defRPr sz="2000"/>
            </a:pPr>
            <a:r>
              <a:t>• Prescribes exact courses needed to close the highest-priority gaps.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Screenshot: Skill Radar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DASHBOARD / RADAR CHART HERE]</a:t>
            </a:r>
          </a:p>
          <a:p>
            <a:pPr>
              <a:defRPr sz="2000"/>
            </a:pPr>
            <a:r>
              <a:t>• Emphasize the Canvas-based Radar Chart.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Theory: DAG Topological Sorting for Roadmaps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Learning paths must obey prerequisites (e.g., HTML -&gt; JS -&gt; React).</a:t>
            </a:r>
          </a:p>
          <a:p>
            <a:pPr>
              <a:defRPr sz="2000"/>
            </a:pPr>
            <a:r>
              <a:t>• We represent courses as a Directed Acyclic Graph (DAG).</a:t>
            </a:r>
          </a:p>
          <a:p>
            <a:pPr>
              <a:defRPr sz="2000"/>
            </a:pPr>
            <a:r>
              <a:t>• We run a Topological Sort algorithm (Kahn's Algorithm / DFS).</a:t>
            </a:r>
          </a:p>
          <a:p>
            <a:pPr>
              <a:defRPr sz="2000"/>
            </a:pPr>
            <a:r>
              <a:t>• Result: A mathematically guaranteed, chronologically accurate learning roadmap.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Screenshot: Dynamic Learning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THE LEARNING PATH TIMELINE HERE]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Interactive Knowledge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Pure JS/HTML5 Canvas implementation of a force-directed graph.</a:t>
            </a:r>
          </a:p>
          <a:p>
            <a:pPr>
              <a:defRPr sz="2000"/>
            </a:pPr>
            <a:r>
              <a:t>• Visually explore course dependencies.</a:t>
            </a:r>
          </a:p>
          <a:p>
            <a:pPr>
              <a:defRPr sz="2000"/>
            </a:pPr>
            <a:r>
              <a:t>• Real-time highlighting of connected paths and glowing completed courses.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Screenshot: Canvas Knowledge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THE GRAPH UI HERE]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Feature: Conversational AI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Context-aware natural language interface.</a:t>
            </a:r>
          </a:p>
          <a:p>
            <a:pPr>
              <a:defRPr sz="2000"/>
            </a:pPr>
            <a:r>
              <a:t>• Features streaming text responses.</a:t>
            </a:r>
          </a:p>
          <a:p>
            <a:pPr>
              <a:defRPr sz="2000"/>
            </a:pPr>
            <a:r>
              <a:t>• Renders rich inline course suggestion cards directly in the chat.</a:t>
            </a:r>
          </a:p>
          <a:p>
            <a:pPr>
              <a:defRPr sz="2000"/>
            </a:pPr>
            <a:r>
              <a:t>• Understands the user's completed courses and current goals.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Screenshot: AI Chat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[PLEASE INSERT SCREENSHOT OF THE CHAT ASSISTANT HERE]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Learning: Adaptive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System tracks 'Learning Velocity' (courses completed per week).</a:t>
            </a:r>
          </a:p>
          <a:p>
            <a:pPr>
              <a:defRPr sz="2000"/>
            </a:pPr>
            <a:r>
              <a:t>• After each course, users rate difficulty and relevance.</a:t>
            </a:r>
          </a:p>
          <a:p>
            <a:pPr>
              <a:defRPr sz="2000"/>
            </a:pPr>
            <a:r>
              <a:t>• The roadmap dynamically restructures pacing and future course weightings based on this feedback.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Why This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Technical Depth: Custom ML pipelines + Advanced Graph Algorithms.</a:t>
            </a:r>
          </a:p>
          <a:p>
            <a:pPr>
              <a:defRPr sz="2000"/>
            </a:pPr>
            <a:r>
              <a:t>• Business Value: Ready to deploy for HCL's internal Learning &amp; Development.</a:t>
            </a:r>
          </a:p>
          <a:p>
            <a:pPr>
              <a:defRPr sz="2000"/>
            </a:pPr>
            <a:r>
              <a:t>• User Experience: Premium Glassmorphism UI, Zero-latency interactions.</a:t>
            </a:r>
          </a:p>
          <a:p>
            <a:pPr>
              <a:defRPr sz="2000"/>
            </a:pPr>
            <a:r>
              <a:t>• Thank you! Let's jump into the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